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8"/>
  </p:notesMasterIdLst>
  <p:sldIdLst>
    <p:sldId id="258" r:id="rId3"/>
    <p:sldId id="260" r:id="rId4"/>
    <p:sldId id="666" r:id="rId5"/>
    <p:sldId id="749" r:id="rId6"/>
    <p:sldId id="750" r:id="rId7"/>
  </p:sldIdLst>
  <p:sldSz cx="12192000" cy="6858000"/>
  <p:notesSz cx="10021888" cy="688975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57DE"/>
    <a:srgbClr val="1135D5"/>
    <a:srgbClr val="B5C1F2"/>
    <a:srgbClr val="0E2DB2"/>
    <a:srgbClr val="393737"/>
    <a:srgbClr val="8DA1F6"/>
    <a:srgbClr val="2345DF"/>
    <a:srgbClr val="4363F0"/>
    <a:srgbClr val="8EA1F6"/>
    <a:srgbClr val="627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482" autoAdjust="0"/>
  </p:normalViewPr>
  <p:slideViewPr>
    <p:cSldViewPr snapToGrid="0">
      <p:cViewPr varScale="1">
        <p:scale>
          <a:sx n="91" d="100"/>
          <a:sy n="91" d="100"/>
        </p:scale>
        <p:origin x="33" y="3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42818" cy="34568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76751" y="1"/>
            <a:ext cx="4342818" cy="345684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5AE85E28-8EA0-4DFB-8152-260EA424EEA2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44813" y="862013"/>
            <a:ext cx="4132262" cy="2324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2189" y="3315691"/>
            <a:ext cx="8017510" cy="2712840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44067"/>
            <a:ext cx="4342818" cy="345683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76751" y="6544067"/>
            <a:ext cx="4342818" cy="345683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F2CB16BF-EBFA-4D2E-A1A5-8D480D260E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749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B16BF-EBFA-4D2E-A1A5-8D480D260E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90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B16BF-EBFA-4D2E-A1A5-8D480D260E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228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CB16BF-EBFA-4D2E-A1A5-8D480D260E7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04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27354" y="274638"/>
            <a:ext cx="10255045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2D2264-4827-46DD-BC96-587F3C10F32C}"/>
              </a:ext>
            </a:extLst>
          </p:cNvPr>
          <p:cNvSpPr/>
          <p:nvPr userDrawn="1"/>
        </p:nvSpPr>
        <p:spPr>
          <a:xfrm>
            <a:off x="1327354" y="1050155"/>
            <a:ext cx="10864646" cy="45719"/>
          </a:xfrm>
          <a:prstGeom prst="rect">
            <a:avLst/>
          </a:prstGeom>
          <a:solidFill>
            <a:srgbClr val="1135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85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0877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4968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5785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099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4649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664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458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3044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60258" y="6516643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142273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7575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6085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 defTabSz="914400"/>
              <a:t>2026/6/16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 defTabSz="914400"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5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 defTabSz="914400"/>
              <a:t>2026/6/16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 defTabSz="914400"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699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04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A270A94-28F8-4986-9040-E1D2E170C9E4}"/>
              </a:ext>
            </a:extLst>
          </p:cNvPr>
          <p:cNvGrpSpPr/>
          <p:nvPr userDrawn="1"/>
        </p:nvGrpSpPr>
        <p:grpSpPr>
          <a:xfrm>
            <a:off x="364490" y="311858"/>
            <a:ext cx="12494782" cy="6763575"/>
            <a:chOff x="364490" y="311858"/>
            <a:chExt cx="12494782" cy="676357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1AB73F1-AD3C-417D-9412-813879A40A43}"/>
                </a:ext>
              </a:extLst>
            </p:cNvPr>
            <p:cNvGrpSpPr/>
            <p:nvPr/>
          </p:nvGrpSpPr>
          <p:grpSpPr>
            <a:xfrm>
              <a:off x="364490" y="311858"/>
              <a:ext cx="774677" cy="726396"/>
              <a:chOff x="364490" y="311858"/>
              <a:chExt cx="774677" cy="726396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41E8DDA4-0560-4CD2-8AAE-8529DC6C7B63}"/>
                  </a:ext>
                </a:extLst>
              </p:cNvPr>
              <p:cNvGrpSpPr/>
              <p:nvPr/>
            </p:nvGrpSpPr>
            <p:grpSpPr>
              <a:xfrm>
                <a:off x="364490" y="311858"/>
                <a:ext cx="774677" cy="602105"/>
                <a:chOff x="582204" y="2573952"/>
                <a:chExt cx="2938720" cy="2284072"/>
              </a:xfrm>
            </p:grpSpPr>
            <p:sp>
              <p:nvSpPr>
                <p:cNvPr id="9" name="矩形: 圆角 8">
                  <a:extLst>
                    <a:ext uri="{FF2B5EF4-FFF2-40B4-BE49-F238E27FC236}">
                      <a16:creationId xmlns:a16="http://schemas.microsoft.com/office/drawing/2014/main" id="{AB4B0CA6-0AF0-425D-A7B5-683FB622A99D}"/>
                    </a:ext>
                  </a:extLst>
                </p:cNvPr>
                <p:cNvSpPr/>
                <p:nvPr/>
              </p:nvSpPr>
              <p:spPr>
                <a:xfrm rot="2700000">
                  <a:off x="582204" y="2573952"/>
                  <a:ext cx="1685010" cy="1685009"/>
                </a:xfrm>
                <a:prstGeom prst="roundRect">
                  <a:avLst/>
                </a:prstGeom>
                <a:solidFill>
                  <a:srgbClr val="2345DF"/>
                </a:solidFill>
                <a:ln>
                  <a:noFill/>
                </a:ln>
                <a:effectLst>
                  <a:outerShdw blurRad="76200" dist="38100" dir="5400000" sx="101000" sy="101000" algn="t" rotWithShape="0">
                    <a:prstClr val="black">
                      <a:alpha val="39000"/>
                    </a:prstClr>
                  </a:outerShdw>
                  <a:softEdge rad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FE9BF82A-DFF3-4C1C-8CD4-30FBF6A1530B}"/>
                    </a:ext>
                  </a:extLst>
                </p:cNvPr>
                <p:cNvSpPr/>
                <p:nvPr/>
              </p:nvSpPr>
              <p:spPr>
                <a:xfrm rot="2700000">
                  <a:off x="1711457" y="3048558"/>
                  <a:ext cx="1809467" cy="1809466"/>
                </a:xfrm>
                <a:prstGeom prst="roundRect">
                  <a:avLst/>
                </a:prstGeom>
                <a:solidFill>
                  <a:srgbClr val="0E2DB2"/>
                </a:solidFill>
                <a:ln>
                  <a:noFill/>
                </a:ln>
                <a:effectLst>
                  <a:outerShdw blurRad="76200" dist="38100" dir="5400000" sx="101000" sy="101000" algn="t" rotWithShape="0">
                    <a:prstClr val="black">
                      <a:alpha val="39000"/>
                    </a:prstClr>
                  </a:outerShdw>
                  <a:softEdge rad="0"/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870C3825-F577-48FC-A81B-AA315BFB6393}"/>
                  </a:ext>
                </a:extLst>
              </p:cNvPr>
              <p:cNvSpPr/>
              <p:nvPr/>
            </p:nvSpPr>
            <p:spPr>
              <a:xfrm rot="2700000">
                <a:off x="441447" y="657821"/>
                <a:ext cx="380433" cy="380433"/>
              </a:xfrm>
              <a:prstGeom prst="roundRect">
                <a:avLst/>
              </a:prstGeom>
              <a:solidFill>
                <a:srgbClr val="B5C1F2"/>
              </a:solidFill>
              <a:ln>
                <a:noFill/>
              </a:ln>
              <a:effectLst>
                <a:outerShdw blurRad="76200" dist="38100" dir="5400000" sx="101000" sy="101000" algn="t" rotWithShape="0">
                  <a:prstClr val="black">
                    <a:alpha val="39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E4A1A96B-75E9-447A-A2E2-1CAB211C339A}"/>
                </a:ext>
              </a:extLst>
            </p:cNvPr>
            <p:cNvSpPr/>
            <p:nvPr/>
          </p:nvSpPr>
          <p:spPr>
            <a:xfrm rot="2700000">
              <a:off x="11598612" y="6409673"/>
              <a:ext cx="668724" cy="662795"/>
            </a:xfrm>
            <a:prstGeom prst="roundRect">
              <a:avLst/>
            </a:prstGeom>
            <a:noFill/>
            <a:ln>
              <a:solidFill>
                <a:srgbClr val="393737"/>
              </a:solidFill>
            </a:ln>
            <a:effectLst>
              <a:outerShdw blurRad="76200" dist="38100" dir="5400000" sx="101000" sy="101000" algn="t" rotWithShape="0">
                <a:prstClr val="black">
                  <a:alpha val="39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D929306-9927-49A5-B4F1-C208BD6610DE}"/>
                </a:ext>
              </a:extLst>
            </p:cNvPr>
            <p:cNvSpPr/>
            <p:nvPr/>
          </p:nvSpPr>
          <p:spPr>
            <a:xfrm rot="2700000">
              <a:off x="11781083" y="5733612"/>
              <a:ext cx="1082990" cy="1073388"/>
            </a:xfrm>
            <a:prstGeom prst="roundRect">
              <a:avLst/>
            </a:prstGeom>
            <a:noFill/>
            <a:ln>
              <a:solidFill>
                <a:srgbClr val="393737"/>
              </a:solidFill>
            </a:ln>
            <a:effectLst>
              <a:outerShdw blurRad="76200" dist="38100" dir="5400000" sx="101000" sy="101000" algn="t" rotWithShape="0">
                <a:prstClr val="black">
                  <a:alpha val="39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78DD67B-4C67-450D-ACC9-7F10FFAA5180}"/>
              </a:ext>
            </a:extLst>
          </p:cNvPr>
          <p:cNvSpPr/>
          <p:nvPr/>
        </p:nvSpPr>
        <p:spPr>
          <a:xfrm rot="2700000">
            <a:off x="3385186" y="2587070"/>
            <a:ext cx="1248964" cy="1280883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517E552-F4B7-470F-95FE-69D87F9E3859}"/>
              </a:ext>
            </a:extLst>
          </p:cNvPr>
          <p:cNvSpPr/>
          <p:nvPr/>
        </p:nvSpPr>
        <p:spPr>
          <a:xfrm rot="2700000">
            <a:off x="8456397" y="3142846"/>
            <a:ext cx="1785367" cy="1785367"/>
          </a:xfrm>
          <a:prstGeom prst="roundRect">
            <a:avLst/>
          </a:prstGeom>
          <a:solidFill>
            <a:srgbClr val="0E2DB2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EA42C57-DA16-488D-B596-1763C139F0F6}"/>
              </a:ext>
            </a:extLst>
          </p:cNvPr>
          <p:cNvSpPr/>
          <p:nvPr/>
        </p:nvSpPr>
        <p:spPr>
          <a:xfrm rot="2700000">
            <a:off x="8738741" y="-204916"/>
            <a:ext cx="1455175" cy="1455175"/>
          </a:xfrm>
          <a:prstGeom prst="roundRect">
            <a:avLst/>
          </a:prstGeom>
          <a:solidFill>
            <a:srgbClr val="8EA1F6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61DD249-97AB-4E45-B365-976FD4B6D6D4}"/>
              </a:ext>
            </a:extLst>
          </p:cNvPr>
          <p:cNvSpPr/>
          <p:nvPr/>
        </p:nvSpPr>
        <p:spPr>
          <a:xfrm rot="2700000">
            <a:off x="-945107" y="2404558"/>
            <a:ext cx="1785367" cy="1785367"/>
          </a:xfrm>
          <a:prstGeom prst="roundRect">
            <a:avLst/>
          </a:prstGeom>
          <a:solidFill>
            <a:srgbClr val="0E2DB2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7A4AAED-9B00-4F18-828A-ACC4B6C34497}"/>
              </a:ext>
            </a:extLst>
          </p:cNvPr>
          <p:cNvSpPr/>
          <p:nvPr/>
        </p:nvSpPr>
        <p:spPr>
          <a:xfrm rot="2700000">
            <a:off x="10010218" y="-475976"/>
            <a:ext cx="2822451" cy="2822451"/>
          </a:xfrm>
          <a:prstGeom prst="roundRect">
            <a:avLst/>
          </a:prstGeom>
          <a:solidFill>
            <a:srgbClr val="627CF3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D0CB1AE-7FFD-4132-9039-89CBE8232079}"/>
              </a:ext>
            </a:extLst>
          </p:cNvPr>
          <p:cNvSpPr/>
          <p:nvPr/>
        </p:nvSpPr>
        <p:spPr>
          <a:xfrm rot="2700000">
            <a:off x="7909014" y="298586"/>
            <a:ext cx="1203031" cy="1203031"/>
          </a:xfrm>
          <a:prstGeom prst="roundRect">
            <a:avLst/>
          </a:prstGeom>
          <a:solidFill>
            <a:srgbClr val="4363F0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D05BAEC-9679-4DE9-8AE7-A151087FB504}"/>
              </a:ext>
            </a:extLst>
          </p:cNvPr>
          <p:cNvSpPr/>
          <p:nvPr/>
        </p:nvSpPr>
        <p:spPr>
          <a:xfrm rot="2700000">
            <a:off x="11259775" y="2097417"/>
            <a:ext cx="1455175" cy="1455175"/>
          </a:xfrm>
          <a:prstGeom prst="roundRect">
            <a:avLst/>
          </a:prstGeom>
          <a:solidFill>
            <a:srgbClr val="8DA1F6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C66CFA7-32B1-4708-A932-29175C9AF478}"/>
              </a:ext>
            </a:extLst>
          </p:cNvPr>
          <p:cNvSpPr/>
          <p:nvPr/>
        </p:nvSpPr>
        <p:spPr>
          <a:xfrm rot="2700000">
            <a:off x="7841685" y="2276958"/>
            <a:ext cx="1051399" cy="1051399"/>
          </a:xfrm>
          <a:prstGeom prst="roundRect">
            <a:avLst/>
          </a:prstGeom>
          <a:solidFill>
            <a:srgbClr val="3E57DE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B8500D8-9E9F-49CA-A93E-C1549100C57E}"/>
              </a:ext>
            </a:extLst>
          </p:cNvPr>
          <p:cNvSpPr/>
          <p:nvPr/>
        </p:nvSpPr>
        <p:spPr>
          <a:xfrm rot="2700000">
            <a:off x="8369594" y="1076204"/>
            <a:ext cx="794124" cy="794124"/>
          </a:xfrm>
          <a:prstGeom prst="roundRect">
            <a:avLst/>
          </a:prstGeom>
          <a:solidFill>
            <a:srgbClr val="1135D5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28EDE23-1C3C-4C29-A615-F6C587BACAD5}"/>
              </a:ext>
            </a:extLst>
          </p:cNvPr>
          <p:cNvSpPr/>
          <p:nvPr/>
        </p:nvSpPr>
        <p:spPr>
          <a:xfrm rot="2700000">
            <a:off x="10135339" y="3489937"/>
            <a:ext cx="995523" cy="995523"/>
          </a:xfrm>
          <a:prstGeom prst="roundRect">
            <a:avLst/>
          </a:prstGeom>
          <a:solidFill>
            <a:srgbClr val="B5C1F2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58CBA59-B0B7-487A-8DA3-7DE803B68D5E}"/>
              </a:ext>
            </a:extLst>
          </p:cNvPr>
          <p:cNvSpPr/>
          <p:nvPr/>
        </p:nvSpPr>
        <p:spPr>
          <a:xfrm rot="2700000">
            <a:off x="10012580" y="1873787"/>
            <a:ext cx="1553140" cy="1553140"/>
          </a:xfrm>
          <a:prstGeom prst="roundRect">
            <a:avLst/>
          </a:prstGeom>
          <a:solidFill>
            <a:srgbClr val="4262EF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8A60A6E-8E60-4AE1-A0FE-23FA060F938F}"/>
              </a:ext>
            </a:extLst>
          </p:cNvPr>
          <p:cNvSpPr/>
          <p:nvPr/>
        </p:nvSpPr>
        <p:spPr>
          <a:xfrm rot="2700000">
            <a:off x="8662564" y="1352254"/>
            <a:ext cx="2072487" cy="2072487"/>
          </a:xfrm>
          <a:prstGeom prst="roundRect">
            <a:avLst/>
          </a:prstGeom>
          <a:solidFill>
            <a:srgbClr val="2345DF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928A3B7-E630-40A3-9880-483BCBE1E848}"/>
              </a:ext>
            </a:extLst>
          </p:cNvPr>
          <p:cNvSpPr/>
          <p:nvPr/>
        </p:nvSpPr>
        <p:spPr>
          <a:xfrm rot="2700000">
            <a:off x="6969156" y="3829931"/>
            <a:ext cx="857514" cy="857514"/>
          </a:xfrm>
          <a:prstGeom prst="roundRect">
            <a:avLst/>
          </a:prstGeom>
          <a:solidFill>
            <a:srgbClr val="2345DF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91BFF5A-5673-44AE-B81A-F821777686F7}"/>
              </a:ext>
            </a:extLst>
          </p:cNvPr>
          <p:cNvSpPr/>
          <p:nvPr/>
        </p:nvSpPr>
        <p:spPr>
          <a:xfrm rot="2700000">
            <a:off x="6498452" y="1316943"/>
            <a:ext cx="376063" cy="376063"/>
          </a:xfrm>
          <a:prstGeom prst="roundRect">
            <a:avLst/>
          </a:prstGeom>
          <a:solidFill>
            <a:srgbClr val="1135D5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8E880C1-4E93-4176-BABD-0F51607D52DF}"/>
              </a:ext>
            </a:extLst>
          </p:cNvPr>
          <p:cNvSpPr/>
          <p:nvPr/>
        </p:nvSpPr>
        <p:spPr>
          <a:xfrm rot="2700000">
            <a:off x="8712451" y="4643716"/>
            <a:ext cx="727314" cy="727314"/>
          </a:xfrm>
          <a:prstGeom prst="roundRect">
            <a:avLst/>
          </a:prstGeom>
          <a:solidFill>
            <a:srgbClr val="B5C1F2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17C941A-570E-4C0D-8E74-BD2DBBD8FE36}"/>
              </a:ext>
            </a:extLst>
          </p:cNvPr>
          <p:cNvSpPr/>
          <p:nvPr/>
        </p:nvSpPr>
        <p:spPr>
          <a:xfrm rot="2700000">
            <a:off x="6471760" y="5738362"/>
            <a:ext cx="576609" cy="576609"/>
          </a:xfrm>
          <a:prstGeom prst="roundRect">
            <a:avLst/>
          </a:prstGeom>
          <a:solidFill>
            <a:srgbClr val="2345DF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024CD7A-A5FF-4D9F-AC17-24F77B22C9F3}"/>
              </a:ext>
            </a:extLst>
          </p:cNvPr>
          <p:cNvSpPr/>
          <p:nvPr/>
        </p:nvSpPr>
        <p:spPr>
          <a:xfrm rot="2700000">
            <a:off x="7482164" y="5186671"/>
            <a:ext cx="518410" cy="518410"/>
          </a:xfrm>
          <a:prstGeom prst="roundRect">
            <a:avLst/>
          </a:prstGeom>
          <a:solidFill>
            <a:srgbClr val="B5C1F2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5FE371-B32E-4B38-B492-BD765D028BA3}"/>
              </a:ext>
            </a:extLst>
          </p:cNvPr>
          <p:cNvSpPr txBox="1"/>
          <p:nvPr/>
        </p:nvSpPr>
        <p:spPr>
          <a:xfrm>
            <a:off x="380592" y="1334684"/>
            <a:ext cx="73501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spc="600" dirty="0">
                <a:solidFill>
                  <a:srgbClr val="393737"/>
                </a:solidFill>
                <a:cs typeface="+mn-ea"/>
                <a:sym typeface="+mn-lt"/>
              </a:rPr>
              <a:t>机器学习</a:t>
            </a:r>
            <a:endParaRPr lang="en-US" altLang="zh-CN" sz="8000" spc="600" dirty="0">
              <a:solidFill>
                <a:srgbClr val="393737"/>
              </a:solidFill>
              <a:cs typeface="+mn-ea"/>
              <a:sym typeface="+mn-lt"/>
            </a:endParaRPr>
          </a:p>
          <a:p>
            <a:pPr algn="ctr"/>
            <a:r>
              <a:rPr lang="zh-CN" altLang="en-US" sz="8000" spc="600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与</a:t>
            </a:r>
            <a:endParaRPr lang="en-US" altLang="zh-CN" sz="8000" spc="600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  <a:p>
            <a:pPr algn="ctr"/>
            <a:r>
              <a:rPr lang="zh-CN" altLang="en-US" sz="8000" spc="600" dirty="0">
                <a:solidFill>
                  <a:srgbClr val="393737"/>
                </a:solidFill>
                <a:cs typeface="+mn-ea"/>
                <a:sym typeface="+mn-lt"/>
              </a:rPr>
              <a:t>深度学习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97F88FB-A0C0-4C07-A1F5-22FAD6536C4F}"/>
              </a:ext>
            </a:extLst>
          </p:cNvPr>
          <p:cNvSpPr/>
          <p:nvPr/>
        </p:nvSpPr>
        <p:spPr>
          <a:xfrm rot="2700000">
            <a:off x="2571530" y="-1904145"/>
            <a:ext cx="2462428" cy="2462428"/>
          </a:xfrm>
          <a:prstGeom prst="roundRect">
            <a:avLst/>
          </a:prstGeom>
          <a:solidFill>
            <a:srgbClr val="1135D5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4987035B-D3C1-4EE2-BCCB-EC1BC4442FC0}"/>
              </a:ext>
            </a:extLst>
          </p:cNvPr>
          <p:cNvSpPr/>
          <p:nvPr/>
        </p:nvSpPr>
        <p:spPr>
          <a:xfrm rot="2700000">
            <a:off x="4002391" y="6460181"/>
            <a:ext cx="263805" cy="263805"/>
          </a:xfrm>
          <a:prstGeom prst="roundRect">
            <a:avLst/>
          </a:prstGeom>
          <a:solidFill>
            <a:srgbClr val="1135D5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7399D0D-9773-4486-B501-17D52136850A}"/>
              </a:ext>
            </a:extLst>
          </p:cNvPr>
          <p:cNvSpPr/>
          <p:nvPr/>
        </p:nvSpPr>
        <p:spPr>
          <a:xfrm rot="2700000">
            <a:off x="5333082" y="5420699"/>
            <a:ext cx="396486" cy="396486"/>
          </a:xfrm>
          <a:prstGeom prst="roundRect">
            <a:avLst/>
          </a:prstGeom>
          <a:solidFill>
            <a:srgbClr val="B5C1F2"/>
          </a:solidFill>
          <a:ln>
            <a:noFill/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830A2DD-CEDB-4CC9-8EC9-E9251CF91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30" y="5568834"/>
            <a:ext cx="3937490" cy="122153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45E07204-D7DB-4DA2-BAFB-3449AD86DB51}"/>
              </a:ext>
            </a:extLst>
          </p:cNvPr>
          <p:cNvSpPr/>
          <p:nvPr/>
        </p:nvSpPr>
        <p:spPr>
          <a:xfrm rot="2700000">
            <a:off x="4402454" y="1750470"/>
            <a:ext cx="3387092" cy="3357061"/>
          </a:xfrm>
          <a:prstGeom prst="roundRect">
            <a:avLst/>
          </a:prstGeom>
          <a:noFill/>
          <a:ln>
            <a:solidFill>
              <a:srgbClr val="393737"/>
            </a:solidFill>
          </a:ln>
          <a:effectLst>
            <a:outerShdw blurRad="76200" dist="38100" dir="5400000" sx="101000" sy="101000" algn="t" rotWithShape="0">
              <a:prstClr val="black">
                <a:alpha val="39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11799C-069D-49E3-98A4-1BD3D2EFCB61}"/>
              </a:ext>
            </a:extLst>
          </p:cNvPr>
          <p:cNvSpPr txBox="1"/>
          <p:nvPr/>
        </p:nvSpPr>
        <p:spPr>
          <a:xfrm>
            <a:off x="1566439" y="2900539"/>
            <a:ext cx="900117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7200" b="1" dirty="0">
                <a:solidFill>
                  <a:srgbClr val="3E57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lt"/>
              </a:rPr>
              <a:t>大作业说明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E9C899F-750C-4356-96FC-107013883952}"/>
              </a:ext>
            </a:extLst>
          </p:cNvPr>
          <p:cNvGrpSpPr/>
          <p:nvPr/>
        </p:nvGrpSpPr>
        <p:grpSpPr>
          <a:xfrm>
            <a:off x="-1036243" y="-1553663"/>
            <a:ext cx="4170105" cy="4380340"/>
            <a:chOff x="-1036243" y="-1553663"/>
            <a:chExt cx="4170105" cy="4380340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882E087-C59A-4271-BA38-C4B75684295B}"/>
                </a:ext>
              </a:extLst>
            </p:cNvPr>
            <p:cNvSpPr/>
            <p:nvPr/>
          </p:nvSpPr>
          <p:spPr>
            <a:xfrm rot="2700000">
              <a:off x="311411" y="-1553663"/>
              <a:ext cx="2822451" cy="2822451"/>
            </a:xfrm>
            <a:prstGeom prst="roundRect">
              <a:avLst/>
            </a:prstGeom>
            <a:solidFill>
              <a:srgbClr val="627CF3"/>
            </a:solidFill>
            <a:ln>
              <a:noFill/>
            </a:ln>
            <a:effectLst>
              <a:outerShdw blurRad="76200" dist="38100" dir="5400000" sx="101000" sy="101000" algn="t" rotWithShape="0">
                <a:prstClr val="black">
                  <a:alpha val="39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A318354F-938A-4EA0-8D40-5946CE3B679C}"/>
                </a:ext>
              </a:extLst>
            </p:cNvPr>
            <p:cNvSpPr/>
            <p:nvPr/>
          </p:nvSpPr>
          <p:spPr>
            <a:xfrm rot="2700000">
              <a:off x="1817827" y="1892658"/>
              <a:ext cx="934019" cy="934019"/>
            </a:xfrm>
            <a:prstGeom prst="roundRect">
              <a:avLst/>
            </a:prstGeom>
            <a:solidFill>
              <a:srgbClr val="8DA1F6"/>
            </a:solidFill>
            <a:ln>
              <a:noFill/>
            </a:ln>
            <a:effectLst>
              <a:outerShdw blurRad="76200" dist="38100" dir="5400000" sx="101000" sy="101000" algn="t" rotWithShape="0">
                <a:prstClr val="black">
                  <a:alpha val="39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1C60884-6FC6-4D5C-A5AC-7D5663F34BFA}"/>
                </a:ext>
              </a:extLst>
            </p:cNvPr>
            <p:cNvSpPr/>
            <p:nvPr/>
          </p:nvSpPr>
          <p:spPr>
            <a:xfrm rot="2700000">
              <a:off x="713719" y="561922"/>
              <a:ext cx="1553140" cy="1553140"/>
            </a:xfrm>
            <a:prstGeom prst="roundRect">
              <a:avLst/>
            </a:prstGeom>
            <a:solidFill>
              <a:srgbClr val="4262EF"/>
            </a:solidFill>
            <a:ln>
              <a:noFill/>
            </a:ln>
            <a:effectLst>
              <a:outerShdw blurRad="76200" dist="38100" dir="5400000" sx="101000" sy="101000" algn="t" rotWithShape="0">
                <a:prstClr val="black">
                  <a:alpha val="39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823FC48-E450-4207-A6F2-00BC76993564}"/>
                </a:ext>
              </a:extLst>
            </p:cNvPr>
            <p:cNvSpPr/>
            <p:nvPr/>
          </p:nvSpPr>
          <p:spPr>
            <a:xfrm rot="2700000">
              <a:off x="-1036243" y="274567"/>
              <a:ext cx="2072487" cy="2072487"/>
            </a:xfrm>
            <a:prstGeom prst="roundRect">
              <a:avLst/>
            </a:prstGeom>
            <a:solidFill>
              <a:srgbClr val="2345DF"/>
            </a:solidFill>
            <a:ln>
              <a:noFill/>
            </a:ln>
            <a:effectLst>
              <a:outerShdw blurRad="76200" dist="38100" dir="5400000" sx="101000" sy="101000" algn="t" rotWithShape="0">
                <a:prstClr val="black">
                  <a:alpha val="39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45FB0B7-45ED-4EB4-9B6E-944ED8568C5A}"/>
              </a:ext>
            </a:extLst>
          </p:cNvPr>
          <p:cNvGrpSpPr/>
          <p:nvPr/>
        </p:nvGrpSpPr>
        <p:grpSpPr>
          <a:xfrm flipH="1" flipV="1">
            <a:off x="9116084" y="3989384"/>
            <a:ext cx="4170105" cy="4380340"/>
            <a:chOff x="-1036243" y="-1553663"/>
            <a:chExt cx="4170105" cy="4380340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B6DD02B7-B256-4052-96B0-F61E0F57D175}"/>
                </a:ext>
              </a:extLst>
            </p:cNvPr>
            <p:cNvSpPr/>
            <p:nvPr/>
          </p:nvSpPr>
          <p:spPr>
            <a:xfrm rot="2700000">
              <a:off x="311411" y="-1553663"/>
              <a:ext cx="2822451" cy="2822451"/>
            </a:xfrm>
            <a:prstGeom prst="roundRect">
              <a:avLst/>
            </a:prstGeom>
            <a:solidFill>
              <a:srgbClr val="627CF3"/>
            </a:solidFill>
            <a:ln>
              <a:noFill/>
            </a:ln>
            <a:effectLst>
              <a:outerShdw blurRad="76200" dist="38100" dir="5400000" sx="101000" sy="101000" algn="t" rotWithShape="0">
                <a:prstClr val="black">
                  <a:alpha val="39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B5ED1F63-E8CE-4580-9F97-6597C5B6A809}"/>
                </a:ext>
              </a:extLst>
            </p:cNvPr>
            <p:cNvSpPr/>
            <p:nvPr/>
          </p:nvSpPr>
          <p:spPr>
            <a:xfrm rot="2700000">
              <a:off x="1817827" y="1892658"/>
              <a:ext cx="934019" cy="934019"/>
            </a:xfrm>
            <a:prstGeom prst="roundRect">
              <a:avLst/>
            </a:prstGeom>
            <a:solidFill>
              <a:srgbClr val="8DA1F6"/>
            </a:solidFill>
            <a:ln>
              <a:noFill/>
            </a:ln>
            <a:effectLst>
              <a:outerShdw blurRad="76200" dist="38100" dir="5400000" sx="101000" sy="101000" algn="t" rotWithShape="0">
                <a:prstClr val="black">
                  <a:alpha val="39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5EEB881D-A0DD-4D33-92CE-B7505D217BA4}"/>
                </a:ext>
              </a:extLst>
            </p:cNvPr>
            <p:cNvSpPr/>
            <p:nvPr/>
          </p:nvSpPr>
          <p:spPr>
            <a:xfrm rot="2700000">
              <a:off x="713719" y="561922"/>
              <a:ext cx="1553140" cy="1553140"/>
            </a:xfrm>
            <a:prstGeom prst="roundRect">
              <a:avLst/>
            </a:prstGeom>
            <a:solidFill>
              <a:srgbClr val="4262EF"/>
            </a:solidFill>
            <a:ln>
              <a:noFill/>
            </a:ln>
            <a:effectLst>
              <a:outerShdw blurRad="76200" dist="38100" dir="5400000" sx="101000" sy="101000" algn="t" rotWithShape="0">
                <a:prstClr val="black">
                  <a:alpha val="39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9E943D4A-C35F-4C72-9FEE-A01E4D324277}"/>
                </a:ext>
              </a:extLst>
            </p:cNvPr>
            <p:cNvSpPr/>
            <p:nvPr/>
          </p:nvSpPr>
          <p:spPr>
            <a:xfrm rot="2700000">
              <a:off x="-1036243" y="274567"/>
              <a:ext cx="2072487" cy="2072487"/>
            </a:xfrm>
            <a:prstGeom prst="roundRect">
              <a:avLst/>
            </a:prstGeom>
            <a:solidFill>
              <a:srgbClr val="2345DF"/>
            </a:solidFill>
            <a:ln>
              <a:noFill/>
            </a:ln>
            <a:effectLst>
              <a:outerShdw blurRad="76200" dist="38100" dir="5400000" sx="101000" sy="101000" algn="t" rotWithShape="0">
                <a:prstClr val="black">
                  <a:alpha val="39000"/>
                </a:prst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4941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>
            <a:extLst>
              <a:ext uri="{FF2B5EF4-FFF2-40B4-BE49-F238E27FC236}">
                <a16:creationId xmlns:a16="http://schemas.microsoft.com/office/drawing/2014/main" id="{C20F5FD3-3CD0-42AE-A8F2-6C2C3BF53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050" y="356333"/>
            <a:ext cx="104073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eaLnBrk="1" hangingPunct="1"/>
            <a:r>
              <a:rPr lang="zh-CN" altLang="en-US" sz="40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题目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319FBE-FEE0-4576-B952-33962B48D874}"/>
              </a:ext>
            </a:extLst>
          </p:cNvPr>
          <p:cNvSpPr/>
          <p:nvPr/>
        </p:nvSpPr>
        <p:spPr>
          <a:xfrm>
            <a:off x="729194" y="1571396"/>
            <a:ext cx="10407322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主题：基于</a:t>
            </a:r>
            <a:r>
              <a:rPr lang="en-US" altLang="zh-CN" sz="2400" dirty="0"/>
              <a:t>Agent</a:t>
            </a:r>
            <a:r>
              <a:rPr lang="zh-CN" altLang="en-US" sz="2400" dirty="0"/>
              <a:t>的水下目标增强检测与应用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开放性探索，题目自拟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涵盖</a:t>
            </a:r>
            <a:r>
              <a:rPr lang="en-US" altLang="zh-CN" sz="2400" dirty="0"/>
              <a:t>Agent</a:t>
            </a:r>
            <a:r>
              <a:rPr lang="zh-CN" altLang="en-US" sz="2400" dirty="0"/>
              <a:t>、目标检测、水下图像增强、面向应用等内容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数据集：水下鱼类、水下模板检测数据集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完成可视化系统开发与</a:t>
            </a:r>
            <a:r>
              <a:rPr lang="en-US" altLang="zh-CN" sz="2400" dirty="0"/>
              <a:t>Web</a:t>
            </a:r>
            <a:r>
              <a:rPr lang="zh-CN" altLang="en-US" sz="2400" dirty="0"/>
              <a:t>部署。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547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>
            <a:extLst>
              <a:ext uri="{FF2B5EF4-FFF2-40B4-BE49-F238E27FC236}">
                <a16:creationId xmlns:a16="http://schemas.microsoft.com/office/drawing/2014/main" id="{C20F5FD3-3CD0-42AE-A8F2-6C2C3BF53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050" y="356333"/>
            <a:ext cx="104073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eaLnBrk="1" hangingPunct="1"/>
            <a:r>
              <a:rPr lang="zh-CN" altLang="en-US" sz="40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报告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319FBE-FEE0-4576-B952-33962B48D874}"/>
              </a:ext>
            </a:extLst>
          </p:cNvPr>
          <p:cNvSpPr/>
          <p:nvPr/>
        </p:nvSpPr>
        <p:spPr>
          <a:xfrm>
            <a:off x="729194" y="1290963"/>
            <a:ext cx="10869248" cy="5013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模板参照本科毕设格式要求（</a:t>
            </a:r>
            <a:r>
              <a:rPr lang="en-US" altLang="zh-CN" sz="2400" dirty="0" err="1"/>
              <a:t>i</a:t>
            </a:r>
            <a:r>
              <a:rPr lang="en-US" altLang="zh-CN" sz="2400" dirty="0"/>
              <a:t>.	</a:t>
            </a:r>
            <a:r>
              <a:rPr lang="zh-CN" altLang="en-US" sz="2400" dirty="0"/>
              <a:t>按照提供的模板组织内容顺序，封面标明题目、个人信息。</a:t>
            </a:r>
            <a:r>
              <a:rPr lang="en-US" altLang="zh-CN" sz="2400" dirty="0"/>
              <a:t>ii.	</a:t>
            </a:r>
            <a:r>
              <a:rPr lang="zh-CN" altLang="en-US" sz="2400" dirty="0"/>
              <a:t>宋体，四号，单倍行距，该分析报告不少于</a:t>
            </a:r>
            <a:r>
              <a:rPr lang="en-US" altLang="zh-CN" sz="2400" dirty="0"/>
              <a:t>10</a:t>
            </a:r>
            <a:r>
              <a:rPr lang="zh-CN" altLang="en-US" sz="2400" dirty="0"/>
              <a:t>页。）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一：研究背景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二：模型选择（模型介绍、选择理由）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三：数据预处理（增强、增广等）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四：模型改进（若有）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五：系统设计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六：系统部署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七：模型</a:t>
            </a:r>
            <a:r>
              <a:rPr lang="en-US" altLang="zh-CN" sz="2400" dirty="0"/>
              <a:t>Web</a:t>
            </a:r>
            <a:r>
              <a:rPr lang="zh-CN" altLang="en-US" sz="2400" dirty="0"/>
              <a:t>测试结果截图（本机时间）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904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>
            <a:extLst>
              <a:ext uri="{FF2B5EF4-FFF2-40B4-BE49-F238E27FC236}">
                <a16:creationId xmlns:a16="http://schemas.microsoft.com/office/drawing/2014/main" id="{C20F5FD3-3CD0-42AE-A8F2-6C2C3BF53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1050" y="356333"/>
            <a:ext cx="1040732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eaLnBrk="1" hangingPunct="1"/>
            <a:r>
              <a:rPr lang="zh-CN" altLang="en-US" sz="4000" b="1" spc="3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报告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319FBE-FEE0-4576-B952-33962B48D874}"/>
              </a:ext>
            </a:extLst>
          </p:cNvPr>
          <p:cNvSpPr/>
          <p:nvPr/>
        </p:nvSpPr>
        <p:spPr>
          <a:xfrm>
            <a:off x="729194" y="1571396"/>
            <a:ext cx="10407322" cy="3351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课程（大作业）心得体会（必须要有）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万方查重报告：查重率低于</a:t>
            </a:r>
            <a:r>
              <a:rPr lang="en-US" altLang="zh-CN" sz="2400" dirty="0"/>
              <a:t>10%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3E57DE"/>
                </a:solidFill>
              </a:rPr>
              <a:t>提交时间：</a:t>
            </a:r>
            <a:r>
              <a:rPr lang="en-US" altLang="zh-CN" sz="2400" b="1" dirty="0">
                <a:solidFill>
                  <a:srgbClr val="3E57DE"/>
                </a:solidFill>
              </a:rPr>
              <a:t>7</a:t>
            </a:r>
            <a:r>
              <a:rPr lang="zh-CN" altLang="en-US" sz="2400" b="1" dirty="0">
                <a:solidFill>
                  <a:srgbClr val="3E57DE"/>
                </a:solidFill>
              </a:rPr>
              <a:t>月</a:t>
            </a:r>
            <a:r>
              <a:rPr lang="en-US" altLang="zh-CN" sz="2400" b="1" dirty="0">
                <a:solidFill>
                  <a:srgbClr val="3E57DE"/>
                </a:solidFill>
              </a:rPr>
              <a:t>8</a:t>
            </a:r>
            <a:r>
              <a:rPr lang="zh-CN" altLang="en-US" sz="2400" b="1" dirty="0">
                <a:solidFill>
                  <a:srgbClr val="3E57DE"/>
                </a:solidFill>
              </a:rPr>
              <a:t>日</a:t>
            </a:r>
            <a:r>
              <a:rPr lang="en-US" altLang="zh-CN" sz="2400" b="1" dirty="0">
                <a:solidFill>
                  <a:srgbClr val="3E57DE"/>
                </a:solidFill>
              </a:rPr>
              <a:t>24</a:t>
            </a:r>
            <a:r>
              <a:rPr lang="zh-CN" altLang="en-US" sz="2400" b="1" dirty="0">
                <a:solidFill>
                  <a:srgbClr val="3E57DE"/>
                </a:solidFill>
              </a:rPr>
              <a:t>点前</a:t>
            </a:r>
            <a:endParaRPr lang="en-US" altLang="zh-CN" sz="2400" b="1" dirty="0">
              <a:solidFill>
                <a:srgbClr val="3E57DE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</a:rPr>
              <a:t>提交内容：</a:t>
            </a:r>
            <a:r>
              <a:rPr lang="en-US" altLang="zh-CN" sz="2400" b="1" dirty="0">
                <a:solidFill>
                  <a:srgbClr val="FF0000"/>
                </a:solidFill>
              </a:rPr>
              <a:t>WORD</a:t>
            </a:r>
            <a:r>
              <a:rPr lang="zh-CN" altLang="en-US" sz="2400" b="1" dirty="0">
                <a:solidFill>
                  <a:srgbClr val="FF0000"/>
                </a:solidFill>
              </a:rPr>
              <a:t>或</a:t>
            </a:r>
            <a:r>
              <a:rPr lang="en-US" altLang="zh-CN" sz="2400" b="1" dirty="0">
                <a:solidFill>
                  <a:srgbClr val="FF0000"/>
                </a:solidFill>
              </a:rPr>
              <a:t>PDF</a:t>
            </a:r>
            <a:r>
              <a:rPr lang="zh-CN" altLang="en-US" sz="2400" b="1" dirty="0">
                <a:solidFill>
                  <a:srgbClr val="FF0000"/>
                </a:solidFill>
              </a:rPr>
              <a:t>报告</a:t>
            </a:r>
            <a:r>
              <a:rPr lang="en-US" altLang="zh-CN" sz="2400" b="1" dirty="0">
                <a:solidFill>
                  <a:srgbClr val="FF0000"/>
                </a:solidFill>
              </a:rPr>
              <a:t>+</a:t>
            </a:r>
            <a:r>
              <a:rPr lang="zh-CN" altLang="en-US" sz="2400" b="1" dirty="0">
                <a:solidFill>
                  <a:srgbClr val="FF0000"/>
                </a:solidFill>
              </a:rPr>
              <a:t>源代码打包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压缩包命名：学号</a:t>
            </a:r>
            <a:r>
              <a:rPr lang="en-US" altLang="zh-CN" sz="2400" dirty="0"/>
              <a:t>+</a:t>
            </a:r>
            <a:r>
              <a:rPr lang="zh-CN" altLang="en-US" sz="2400" dirty="0"/>
              <a:t>姓名</a:t>
            </a:r>
            <a:r>
              <a:rPr lang="en-US" altLang="zh-CN" sz="2400" dirty="0"/>
              <a:t>.zip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发送邮箱：</a:t>
            </a:r>
            <a:r>
              <a:rPr lang="en-US" altLang="zh-CN" sz="2400" dirty="0"/>
              <a:t>354082359@qq</a:t>
            </a:r>
            <a:r>
              <a:rPr lang="en-US" altLang="zh-CN" sz="2400"/>
              <a:t>.com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213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81449954085813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1449954110920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144995411060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1449954115463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1449954120817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814499541204877"/>
</p:tagLst>
</file>

<file path=ppt/theme/theme1.xml><?xml version="1.0" encoding="utf-8"?>
<a:theme xmlns:a="http://schemas.openxmlformats.org/drawingml/2006/main" name="Office Theme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79646"/>
      </a:folHlink>
    </a:clrScheme>
    <a:fontScheme name="ie0m2am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7817</TotalTime>
  <Words>135</Words>
  <Application>Microsoft Office PowerPoint</Application>
  <PresentationFormat>宽屏</PresentationFormat>
  <Paragraphs>29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宋体</vt:lpstr>
      <vt:lpstr>微软雅黑</vt:lpstr>
      <vt:lpstr>Arial</vt:lpstr>
      <vt:lpstr>Calibri</vt:lpstr>
      <vt:lpstr>Wingdings</vt:lpstr>
      <vt:lpstr>Office Theme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蓝色商务</dc:title>
  <dc:creator>第一PPT</dc:creator>
  <cp:keywords>www.1ppt.com</cp:keywords>
  <dc:description>www.1ppt.com</dc:description>
  <cp:lastModifiedBy>Huawei</cp:lastModifiedBy>
  <cp:revision>272</cp:revision>
  <cp:lastPrinted>2023-06-30T08:52:30Z</cp:lastPrinted>
  <dcterms:created xsi:type="dcterms:W3CDTF">2017-08-18T03:02:00Z</dcterms:created>
  <dcterms:modified xsi:type="dcterms:W3CDTF">2026-06-16T00:00:36Z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2052-10.1.0.6748</vt:lpwstr>
  </property>
</Properties>
</file>